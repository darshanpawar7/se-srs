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Git Basics + CI/CD</a:t>
            </a:r>
          </a:p>
          <a:p>
            <a:pPr>
              <a:defRPr sz="2400">
                <a:solidFill>
                  <a:srgbClr val="D2DCEB"/>
                </a:solidFill>
              </a:defRPr>
            </a:pPr>
            <a:r>
              <a:t>Hands-on demo using a Python CLI Calculator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886200"/>
            <a:ext cx="658368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0392" y="3922776"/>
            <a:ext cx="643737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Git → GitHub → Branches → PR → CI → 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9204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Based on the uploaded training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Demo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What students should be able to do by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Understand Git as a version-control tool and GitHub as the remote cloud platform.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Clone a repository, inspect status, stage, commit and push changes.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Create a feature branch, work safely, push it, and open a Pull Request.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Understand and resolve a merge conflict.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Run tests and quality checks locally.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Understand how GitHub Actions automates CI and packages an artifact for the CD 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1. Project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The demo project from the source material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1600200"/>
            <a:ext cx="233172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3272" y="1636776"/>
            <a:ext cx="2185415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Git installed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39" y="1943100"/>
            <a:ext cx="411481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03320" y="1600200"/>
            <a:ext cx="233172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76472" y="1636776"/>
            <a:ext cx="2185415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GitHub account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1943100"/>
            <a:ext cx="41148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46520" y="1600200"/>
            <a:ext cx="233172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636776"/>
            <a:ext cx="2185415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GitHub CLI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78240" y="1943100"/>
            <a:ext cx="411479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89720" y="1600200"/>
            <a:ext cx="233172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62872" y="1636776"/>
            <a:ext cx="2185415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VS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432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Project: a simple Python command-line calculator.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Base repository/template contains src/ for application code and tests/ for test cases.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Students build incrementally: add/subtract → multiply/divide → power/square root → CLI.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3088" y="4434840"/>
            <a:ext cx="3291840" cy="132588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62801" y="4741164"/>
            <a:ext cx="28346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rPr dirty="0"/>
              <a:t>git --version</a:t>
            </a:r>
            <a:br>
              <a:rPr dirty="0"/>
            </a:br>
            <a:r>
              <a:rPr dirty="0" err="1"/>
              <a:t>gh</a:t>
            </a:r>
            <a:r>
              <a:rPr dirty="0"/>
              <a:t> --version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Git vs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A key distinction to establish early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508760"/>
            <a:ext cx="3840480" cy="9144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545336"/>
            <a:ext cx="3694176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508760"/>
            <a:ext cx="3840480" cy="9144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88352" y="1545336"/>
            <a:ext cx="3694176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Version-control tool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Tracks changes and project history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Works locally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Supports branching and merging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743200"/>
            <a:ext cx="374903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Cloud platform for remote repositories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Stores the official/project copy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Supports Pull Requests and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2. Configure Git + authenticate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Run once before the hands-on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6492240" cy="324612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60350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git config --global user.name "Your GitHub User Name"</a:t>
            </a:r>
            <a:br/>
            <a:r>
              <a:t>git config --global user.email "Your Email ID connected to GitHub"</a:t>
            </a:r>
            <a:br/>
            <a:r>
              <a:t>git config --list</a:t>
            </a:r>
            <a:br/>
            <a:r>
              <a:t>gh --version</a:t>
            </a:r>
            <a:br/>
            <a:r>
              <a:t>gh auth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1732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git config sets the identity associated with commits.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git config --list confirms the saved settings.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gh auth login signs in through GitHub CLI and connects the local system to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5852160" cy="59436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5065776"/>
            <a:ext cx="5705856" cy="521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DEMO TIP: execute one command at a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3. Clone the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Bring the remote project onto the local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6492240" cy="219456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Consolas"/>
              </a:defRPr>
            </a:pPr>
            <a:r>
              <a:t>git clone https://github.com/&lt;Your username&gt;/my-calculator.git</a:t>
            </a:r>
            <a:br/>
            <a:r>
              <a:t>cd my-calculator</a:t>
            </a:r>
            <a:br/>
            <a:r>
              <a:t>pip install -r requirements.txt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51960"/>
            <a:ext cx="242316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288536"/>
            <a:ext cx="227685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GitHub repo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4594860"/>
            <a:ext cx="59436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931920" y="4251960"/>
            <a:ext cx="242316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05072" y="4288536"/>
            <a:ext cx="227685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git clone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55079" y="4594860"/>
            <a:ext cx="594361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949440" y="4251960"/>
            <a:ext cx="242316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22592" y="4288536"/>
            <a:ext cx="227685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Local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1508760"/>
            <a:ext cx="374903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Clone = make a local copy of the remote repository.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The local copy is where we edit, test and commit changes.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4. First Git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The basic change → commit → push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1417320" cy="68580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911095"/>
            <a:ext cx="12710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Working tree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2" y="1874519"/>
            <a:ext cx="141732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57984" y="1911095"/>
            <a:ext cx="12710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git add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02152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666744" y="1874519"/>
            <a:ext cx="1417320" cy="68580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9896" y="1911095"/>
            <a:ext cx="12710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Staging area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84064" y="2217420"/>
            <a:ext cx="164591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48656" y="1874519"/>
            <a:ext cx="141732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8" y="1911095"/>
            <a:ext cx="12710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git commit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65976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30568" y="1874519"/>
            <a:ext cx="1417320" cy="68580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1911095"/>
            <a:ext cx="12710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Local history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47888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412480" y="1874519"/>
            <a:ext cx="141732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85632" y="1911095"/>
            <a:ext cx="12710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git push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29800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94392" y="1874519"/>
            <a:ext cx="141732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67544" y="1911095"/>
            <a:ext cx="12710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GitHub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3063240"/>
            <a:ext cx="9784080" cy="242316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17320" y="3246120"/>
            <a:ext cx="9326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git status</a:t>
            </a:r>
            <a:br/>
            <a:r>
              <a:t>git add tests/unit/test_calculator.py</a:t>
            </a:r>
            <a:br/>
            <a:r>
              <a:t>git status</a:t>
            </a:r>
            <a:br/>
            <a:r>
              <a:t>git commit -m "Added and Tested with negative values"</a:t>
            </a:r>
            <a:br/>
            <a:r>
              <a:t>git status</a:t>
            </a:r>
            <a:br/>
            <a:r>
              <a:t>git push origin main</a:t>
            </a:r>
            <a:br/>
            <a:r>
              <a:t>git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What each command means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Keep the explanation short during the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git status — shows modified, staged and untracked files.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git add — moves selected changes into the staging area.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git commit -m — records a snapshot/key event in Git history.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git push origin main — sends local commits on main to GitHub.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git status — confirms the local working tree is clean / synchronized.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5486400"/>
            <a:ext cx="7498079" cy="59436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04872" y="5522976"/>
            <a:ext cx="7351775" cy="521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Think: inspect → stage → snapshot → 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5. Test before you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pytest is introduced before branching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663440" cy="114300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64592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FFFFFF"/>
                </a:solidFill>
                <a:latin typeface="Consolas"/>
              </a:defRPr>
            </a:pPr>
            <a:r>
              <a:t>pytest tests/unit/ -v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3258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pytest automatically finds and runs Python test files/functions.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-v gives verbose output for individual tests.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Demo: add negative-number tests for add() and subtract(), then rerun pytest.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4251960"/>
            <a:ext cx="621792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44952" y="4288536"/>
            <a:ext cx="607161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</a:defRPr>
            </a:pPr>
            <a:r>
              <a:t>GREEN = PASS     RED =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6. Branching: create a safe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Protect main while developing a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669280" cy="306324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21208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git branch</a:t>
            </a:r>
            <a:br/>
            <a:r>
              <a:t>git branch -a</a:t>
            </a:r>
            <a:br/>
            <a:r>
              <a:t>git branch feature/multi-div</a:t>
            </a:r>
            <a:br/>
            <a:r>
              <a:t>git checkout feature/multi-div</a:t>
            </a:r>
            <a:br/>
            <a:r>
              <a:t>git branch</a:t>
            </a:r>
            <a:br/>
            <a:r>
              <a:t>git branch -a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4709160"/>
            <a:ext cx="228600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4745736"/>
            <a:ext cx="21396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main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5052060"/>
            <a:ext cx="91440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06240" y="4709160"/>
            <a:ext cx="228600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79392" y="4745736"/>
            <a:ext cx="21396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feature/multi-div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46304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Branching makes a copy of the current project state.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Changes made on the feature branch stay isolated from main until merged.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7. Build the feature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Multiply + divide +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On feature/multi-div, add multiply() and divide() to calculator.py.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Add test cases for positive, zero and negative values.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Run the tests.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Stage, commit and push the feature branch.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25880"/>
            <a:ext cx="5257800" cy="306324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508760"/>
            <a:ext cx="480060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pytest tests/unit/ -v</a:t>
            </a:r>
            <a:br/>
            <a:br/>
            <a:r>
              <a:t>git status</a:t>
            </a:r>
            <a:br/>
            <a:r>
              <a:t>git add .</a:t>
            </a:r>
            <a:br/>
            <a:r>
              <a:t>git commit -m "Changed Multiply and Division Functions with the test cases"</a:t>
            </a:r>
            <a:br/>
            <a:r>
              <a:t>git push origin feature/multi-div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4709160"/>
            <a:ext cx="7863840" cy="64008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21992" y="4745736"/>
            <a:ext cx="7717536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Then checkout main to demonstrate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8. Merge + understand conflicts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A conflict is a teaching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4572000" cy="141732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600200"/>
            <a:ext cx="4114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onsolas"/>
              </a:defRPr>
            </a:pPr>
            <a:r>
              <a:t>git checkout main</a:t>
            </a:r>
            <a:br/>
            <a:r>
              <a:t>git merge feature/multi-div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32588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A merge conflict occurs when branches change the same part of a file differently.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Git cannot decide which version is correct, so the developer resolves it.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In VS Code, use the Merge Editor and choose the intended code.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After resolving: stage and commit the merge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983480"/>
            <a:ext cx="8503920" cy="658368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01952" y="5020056"/>
            <a:ext cx="8357616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Conflict ≠ failure: it means human review is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9. Pull Requests: review before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Move the merge discussion to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60020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865376"/>
            <a:ext cx="14538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Feature branch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171700"/>
            <a:ext cx="274319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68879" y="1828800"/>
            <a:ext cx="160020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42032" y="1865376"/>
            <a:ext cx="14538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Push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79" y="2171700"/>
            <a:ext cx="2743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43400" y="1828800"/>
            <a:ext cx="1600200" cy="68580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1865376"/>
            <a:ext cx="14538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Open PR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0" y="2171700"/>
            <a:ext cx="2743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1828800"/>
            <a:ext cx="160020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91072" y="1865376"/>
            <a:ext cx="14538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Review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18120" y="2171700"/>
            <a:ext cx="2743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92440" y="1828800"/>
            <a:ext cx="160020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5592" y="1865376"/>
            <a:ext cx="14538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Merge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92640" y="2171700"/>
            <a:ext cx="2743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66959" y="1828800"/>
            <a:ext cx="1600200" cy="685800"/>
          </a:xfrm>
          <a:prstGeom prst="roundRect">
            <a:avLst/>
          </a:prstGeom>
          <a:solidFill>
            <a:srgbClr val="646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40111" y="1865376"/>
            <a:ext cx="14538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Delete branch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154680"/>
            <a:ext cx="10241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A Pull Request proposes changes from one branch to another and requests review.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Reviewers can comment, request changes or approve.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PR workflow in the source: Make branch → Commit → Push → Open PR → Review → Resolve conflicts → Merge → Clean up.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10. Sync local main with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After a remote merge, update the local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5029200" cy="329184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50876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git checkout main</a:t>
            </a:r>
            <a:br/>
            <a:r>
              <a:t>git branch -a</a:t>
            </a:r>
            <a:br/>
            <a:r>
              <a:t>git status</a:t>
            </a:r>
            <a:br/>
            <a:r>
              <a:t>git fetch origin main</a:t>
            </a:r>
            <a:br/>
            <a:r>
              <a:t>git status</a:t>
            </a:r>
            <a:br/>
            <a:r>
              <a:t>git pull origin main</a:t>
            </a:r>
            <a:br/>
            <a:r>
              <a:t>git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1732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fetch updates local knowledge of origin/main without merging.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pull fetches and merges remote changes into the local branch.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Use status before and after to see whether you are ahead, behind or synchronized.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11. Local quality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Before automation, run the checks manually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760720" cy="365760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0876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pytest tests/ -v</a:t>
            </a:r>
            <a:br/>
            <a:r>
              <a:t>pytest tests/ --cov=src</a:t>
            </a:r>
            <a:br/>
            <a:r>
              <a:t>pytest tests/ --cov=src --cov-report=html</a:t>
            </a:r>
            <a:br/>
            <a:br/>
            <a:r>
              <a:t>pylint src/</a:t>
            </a:r>
            <a:br/>
            <a:r>
              <a:t>black src/ tests/ --check</a:t>
            </a:r>
            <a:br/>
            <a:r>
              <a:t>bandit -r src/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132588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pytest → functionality and regression checks.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coverage → measures how much code is exercised by tests.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pylint → programming errors, standards and maintainability checks.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black → formatting consistency.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bandit → security vulnerability scan.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12. Why CI/CD?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The problem: repeating the same checks manually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32A34"/>
                </a:solidFill>
              </a:defRPr>
            </a:pPr>
            <a:r>
              <a:t>Every small change can require tests, coverage, linting, formatting and security checks.</a:t>
            </a:r>
          </a:p>
          <a:p>
            <a:pPr>
              <a:spcAft>
                <a:spcPts val="1000"/>
              </a:spcAft>
              <a:defRPr sz="2100" b="0">
                <a:solidFill>
                  <a:srgbClr val="232A34"/>
                </a:solidFill>
              </a:defRPr>
            </a:pPr>
            <a:r>
              <a:t>Running these commands repeatedly is tedious and easy to skip.</a:t>
            </a:r>
          </a:p>
          <a:p>
            <a:pPr>
              <a:spcAft>
                <a:spcPts val="1000"/>
              </a:spcAft>
              <a:defRPr sz="2100" b="0">
                <a:solidFill>
                  <a:srgbClr val="232A34"/>
                </a:solidFill>
              </a:defRPr>
            </a:pPr>
            <a:r>
              <a:t>CI automates the quality/build commands whenever code changes.</a:t>
            </a:r>
          </a:p>
          <a:p>
            <a:pPr>
              <a:spcAft>
                <a:spcPts val="1000"/>
              </a:spcAft>
              <a:defRPr sz="2100" b="0">
                <a:solidFill>
                  <a:srgbClr val="232A34"/>
                </a:solidFill>
              </a:defRPr>
            </a:pPr>
            <a:r>
              <a:t>CD automates the delivery/package step after the quality stages succeed.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709160"/>
            <a:ext cx="2377440" cy="68580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61872" y="4745736"/>
            <a:ext cx="22311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Manual checks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5052060"/>
            <a:ext cx="91440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0" y="4709160"/>
            <a:ext cx="237744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4745736"/>
            <a:ext cx="22311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Automation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5052060"/>
            <a:ext cx="91440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0" y="4709160"/>
            <a:ext cx="237744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45552" y="4745736"/>
            <a:ext cx="22311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Fast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13. GitHub Actions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How the ci.yml file is structured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2148840" cy="68580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0432" y="1865376"/>
            <a:ext cx="20025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6120" y="2171700"/>
            <a:ext cx="502919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49040" y="1828800"/>
            <a:ext cx="214884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22192" y="1865376"/>
            <a:ext cx="20025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Jobs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2171700"/>
            <a:ext cx="5029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1828800"/>
            <a:ext cx="2148840" cy="68580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865376"/>
            <a:ext cx="20025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Steps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49640" y="2171700"/>
            <a:ext cx="50292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52560" y="1828800"/>
            <a:ext cx="214884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25712" y="1865376"/>
            <a:ext cx="20025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546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Workflow: .github/workflows/*.yml; triggered by events such as push or pull_request.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Job: runs on a virtual machine such as ubuntu-latest.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Step: one task; can use run: or uses:.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Action: reusable functionality such as checkout, setup-python, cache and upload-artifact.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14. CI pipeline: the full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This is the core slide to explain before showing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874519"/>
            <a:ext cx="1325880" cy="68580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911095"/>
            <a:ext cx="117957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Push / PR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54480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19072" y="1874519"/>
            <a:ext cx="132588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92224" y="1911095"/>
            <a:ext cx="117957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Build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44952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09544" y="1874519"/>
            <a:ext cx="132588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82696" y="1911095"/>
            <a:ext cx="117957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35424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00016" y="1874519"/>
            <a:ext cx="132588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911095"/>
            <a:ext cx="117957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Coverage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25896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90488" y="1874519"/>
            <a:ext cx="132588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1911095"/>
            <a:ext cx="117957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16367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80959" y="1874519"/>
            <a:ext cx="132588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54111" y="1911095"/>
            <a:ext cx="117957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Format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06839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71431" y="1874519"/>
            <a:ext cx="1325880" cy="68580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4583" y="1911095"/>
            <a:ext cx="117957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497311" y="2217420"/>
            <a:ext cx="164592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661903" y="1874519"/>
            <a:ext cx="132588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35055" y="1911095"/>
            <a:ext cx="117957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24612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Triggers: push or pull_request on branches in the workflow.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Jobs are linked with needs:, enforcing the intended sequence.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If a stage fails, the workflow fails; if all stages pass, the CI pipeline is successful.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Reports such as coverage, lint and security outputs can be uploaded as artifacts.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15. Build + test +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Show the YAML, then open the Actions tab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6583680" cy="452628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1264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build:</a:t>
            </a:r>
            <a:br/>
            <a:r>
              <a:t>  runs-on: ubuntu-latest</a:t>
            </a:r>
            <a:br/>
            <a:r>
              <a:t>  steps:</a:t>
            </a:r>
            <a:br/>
            <a:r>
              <a:t>    - uses: actions/checkout@v4</a:t>
            </a:r>
            <a:br/>
            <a:r>
              <a:t>    - uses: actions/setup-python@v4</a:t>
            </a:r>
            <a:br/>
            <a:r>
              <a:t>      with:</a:t>
            </a:r>
            <a:br/>
            <a:r>
              <a:t>        python-version: "3.13"</a:t>
            </a:r>
            <a:br/>
            <a:r>
              <a:t>    - run: pip install -r requirements.txt</a:t>
            </a:r>
            <a:br/>
            <a:br/>
            <a:r>
              <a:t>test:</a:t>
            </a:r>
            <a:br/>
            <a:r>
              <a:t>  needs: build</a:t>
            </a:r>
            <a:br/>
            <a:r>
              <a:t>  ...</a:t>
            </a:r>
            <a:br/>
            <a:r>
              <a:t>  - run: pytest tests/ -v</a:t>
            </a:r>
            <a:br/>
            <a:br/>
            <a:r>
              <a:t>coverage:</a:t>
            </a:r>
            <a:br/>
            <a:r>
              <a:t>  needs: test</a:t>
            </a:r>
            <a:br/>
            <a:r>
              <a:t>  ...</a:t>
            </a:r>
            <a:br/>
            <a:r>
              <a:t>  - run: pytest tests/ --cov=src --cov-report=html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41732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Each job uses a fresh runner, so it checks the repository in a clean environment.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Coverage creates an HTML report and uploads it as an artifact.</a:t>
            </a:r>
          </a:p>
          <a:p>
            <a:pPr>
              <a:spcAft>
                <a:spcPts val="1000"/>
              </a:spcAft>
              <a:defRPr sz="1700" b="0">
                <a:solidFill>
                  <a:srgbClr val="232A34"/>
                </a:solidFill>
              </a:defRPr>
            </a:pPr>
            <a:r>
              <a:t>Demo: push the workflow → GitHub → Actions → open the running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16. Lint + format +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Turn quality expectations into repeatable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00200"/>
            <a:ext cx="283464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36776"/>
            <a:ext cx="26883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pylint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49039" y="1943100"/>
            <a:ext cx="640081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1600200"/>
            <a:ext cx="2834640" cy="68580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636776"/>
            <a:ext cx="26883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Black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60" y="1943100"/>
            <a:ext cx="640080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863840" y="1600200"/>
            <a:ext cx="2834640" cy="68580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36992" y="1636776"/>
            <a:ext cx="268833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Bandit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Lint: analyze Python code for programming errors, standards violations, naming, complexity and potential bugs.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Format: Black --check verifies formatting without changing files.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Security: Bandit scans Python source for common security issues and can produce a JSON report.</a:t>
            </a:r>
          </a:p>
          <a:p>
            <a:pPr>
              <a:spcAft>
                <a:spcPts val="1000"/>
              </a:spcAft>
              <a:defRPr sz="1800" b="0">
                <a:solidFill>
                  <a:srgbClr val="232A34"/>
                </a:solidFill>
              </a:defRPr>
            </a:pPr>
            <a:r>
              <a:t>Reports can be uploaded to GitHub for later inspection.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17. CD in this demo: package 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The uploaded material demonstrates a simple delivery/package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7315200" cy="4526280"/>
          </a:xfrm>
          <a:prstGeom prst="roundRect">
            <a:avLst/>
          </a:prstGeom>
          <a:solidFill>
            <a:srgbClr val="14233C"/>
          </a:solidFill>
          <a:ln>
            <a:solidFill>
              <a:srgbClr val="14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6858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deploy:</a:t>
            </a:r>
            <a:br/>
            <a:r>
              <a:t>  needs: security</a:t>
            </a:r>
            <a:br/>
            <a:r>
              <a:t>  ...</a:t>
            </a:r>
            <a:br/>
            <a:r>
              <a:t>  # download coverage/lint/security artifacts</a:t>
            </a:r>
            <a:br/>
            <a:r>
              <a:t>  # compile Python files</a:t>
            </a:r>
            <a:br/>
            <a:r>
              <a:t>  python -m compileall -b -f src</a:t>
            </a:r>
            <a:br/>
            <a:r>
              <a:t>  # package source + compiled files + artifacts</a:t>
            </a:r>
            <a:br/>
            <a:r>
              <a:t>  zip -r deployment-package.zip src artifacts README.md requirements.txt</a:t>
            </a:r>
            <a:br/>
            <a:r>
              <a:t>  # upload package</a:t>
            </a:r>
            <a:br/>
            <a:r>
              <a:t>  uses: actions/upload-artifact@v4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32588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Deployment job waits for the security stage.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Coverage, lint and security artifacts are collected.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The demo creates deployment-package.zip and uploads it as deployment-zip.</a:t>
            </a:r>
          </a:p>
          <a:p>
            <a:pPr>
              <a:spcAft>
                <a:spcPts val="1000"/>
              </a:spcAft>
              <a:defRPr sz="1600" b="0">
                <a:solidFill>
                  <a:srgbClr val="232A34"/>
                </a:solidFill>
              </a:defRPr>
            </a:pPr>
            <a:r>
              <a:t>Important: this training material demonstrates packaging as the CD step; it is not a live production-server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18. Demo challenge: make the pipeline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A good demo should show both green and 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1. Start with a passing pipeline.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2. Make a small change that causes a test to fail.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3. Commit + push and watch the Test stage fail in GitHub Actions.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4. Fix the code/test, commit + push again.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5. Show the pipeline turning green and the artifact appearing.</a:t>
            </a:r>
          </a:p>
          <a:p>
            <a:pPr>
              <a:spcAft>
                <a:spcPts val="1000"/>
              </a:spcAft>
              <a:defRPr sz="2000" b="0">
                <a:solidFill>
                  <a:srgbClr val="232A34"/>
                </a:solidFill>
              </a:defRPr>
            </a:pPr>
            <a:r>
              <a:t>6. Open the Pull Request and explain how CI provides feedback before merge.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5440680"/>
            <a:ext cx="8321040" cy="621792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93392" y="5477256"/>
            <a:ext cx="817473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Student takeaway: don't just run CI — learn to read the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19. End-to-end 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Use this as your live teaching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02920" cy="50292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271016"/>
            <a:ext cx="35661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216152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Clone + configure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21615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Consolas"/>
              </a:defRPr>
            </a:pPr>
            <a:r>
              <a:t>git config → gh auth login → git clone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92808"/>
            <a:ext cx="502920" cy="50292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5661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745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Change +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8745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Consolas"/>
              </a:defRPr>
            </a:pPr>
            <a:r>
              <a:t>add tests → pytest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51176"/>
            <a:ext cx="502920" cy="50292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587752"/>
            <a:ext cx="35661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532888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Commit + push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532888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Consolas"/>
              </a:defRPr>
            </a:pPr>
            <a:r>
              <a:t>status → add → commit → push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9544"/>
            <a:ext cx="502920" cy="50292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246120"/>
            <a:ext cx="35661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191256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191256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Consolas"/>
              </a:defRPr>
            </a:pPr>
            <a:r>
              <a:t>feature/multi-div → checkout → implement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67911"/>
            <a:ext cx="502920" cy="50292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3904487"/>
            <a:ext cx="35661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3849624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PR + merge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849624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Consolas"/>
              </a:defRPr>
            </a:pPr>
            <a:r>
              <a:t>push branch → PR → review → merge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26279"/>
            <a:ext cx="502920" cy="50292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4562855"/>
            <a:ext cx="35661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507992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CI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507992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Consolas"/>
              </a:defRPr>
            </a:pPr>
            <a:r>
              <a:t>edit ci.yml → push → Actions → inspect stages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184647"/>
            <a:ext cx="502920" cy="50292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5221223"/>
            <a:ext cx="356616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166359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</a:defRPr>
            </a:pPr>
            <a:r>
              <a:t>CD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516635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A34"/>
                </a:solidFill>
                <a:latin typeface="Consolas"/>
              </a:defRPr>
            </a:pPr>
            <a:r>
              <a:t>security passes → deployment package artifact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20. Final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D"/>
                </a:solidFill>
              </a:defRPr>
            </a:pPr>
            <a:r>
              <a:t>The mental model to leave with students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645920"/>
            <a:ext cx="1371600" cy="685800"/>
          </a:xfrm>
          <a:prstGeom prst="roundRect">
            <a:avLst/>
          </a:prstGeom>
          <a:solidFill>
            <a:srgbClr val="D2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1752" y="1682496"/>
            <a:ext cx="12252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Edit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1988819"/>
            <a:ext cx="15544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755648" y="1645920"/>
            <a:ext cx="137160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682496"/>
            <a:ext cx="12252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1988819"/>
            <a:ext cx="15544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82696" y="1645920"/>
            <a:ext cx="137160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682496"/>
            <a:ext cx="12252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Branch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54296" y="1988819"/>
            <a:ext cx="15544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09744" y="1645920"/>
            <a:ext cx="1371600" cy="685800"/>
          </a:xfrm>
          <a:prstGeom prst="roundRect">
            <a:avLst/>
          </a:prstGeom>
          <a:solidFill>
            <a:srgbClr val="2D5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2896" y="1682496"/>
            <a:ext cx="12252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Commit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81344" y="1988819"/>
            <a:ext cx="15544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336792" y="1645920"/>
            <a:ext cx="137160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1682496"/>
            <a:ext cx="12252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Push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08392" y="1988819"/>
            <a:ext cx="15544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863840" y="1645920"/>
            <a:ext cx="137160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36992" y="1682496"/>
            <a:ext cx="12252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35440" y="1988819"/>
            <a:ext cx="15544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90888" y="1645920"/>
            <a:ext cx="1371600" cy="685800"/>
          </a:xfrm>
          <a:prstGeom prst="round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64040" y="1682496"/>
            <a:ext cx="12252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762488" y="1988819"/>
            <a:ext cx="155448" cy="0"/>
          </a:xfrm>
          <a:prstGeom prst="line">
            <a:avLst/>
          </a:prstGeom>
          <a:ln w="25400">
            <a:solidFill>
              <a:srgbClr val="646E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917936" y="1645920"/>
            <a:ext cx="1371600" cy="685800"/>
          </a:xfrm>
          <a:prstGeom prst="roundRect">
            <a:avLst/>
          </a:prstGeom>
          <a:solidFill>
            <a:srgbClr val="2C8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91088" y="1682496"/>
            <a:ext cx="1225296" cy="6126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Package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154680"/>
            <a:ext cx="10515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Git gives version history and isolated branches.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GitHub provides the remote repository, Pull Requests and GitHub Actions.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Tests + coverage + lint + format + security turn quality into repeatable checks.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CI gives fast automated feedback on changes.</a:t>
            </a:r>
          </a:p>
          <a:p>
            <a:pPr>
              <a:spcAft>
                <a:spcPts val="1000"/>
              </a:spcAft>
              <a:defRPr sz="1900" b="0">
                <a:solidFill>
                  <a:srgbClr val="232A34"/>
                </a:solidFill>
              </a:defRPr>
            </a:pPr>
            <a:r>
              <a:t>The demo's CD step packages the validated project and reports into an artifact.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D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2004</Words>
  <Application>Microsoft Office PowerPoint</Application>
  <PresentationFormat>Widescreen</PresentationFormat>
  <Paragraphs>247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asha hebbar</cp:lastModifiedBy>
  <cp:revision>2</cp:revision>
  <dcterms:created xsi:type="dcterms:W3CDTF">2013-01-27T09:14:16Z</dcterms:created>
  <dcterms:modified xsi:type="dcterms:W3CDTF">2026-09-01T08:41:12Z</dcterms:modified>
  <cp:category/>
</cp:coreProperties>
</file>